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DE9"/>
    <a:srgbClr val="5FACD3"/>
    <a:srgbClr val="FFC349"/>
    <a:srgbClr val="525EA7"/>
    <a:srgbClr val="B2054C"/>
    <a:srgbClr val="D10056"/>
    <a:srgbClr val="FFB900"/>
    <a:srgbClr val="007DCC"/>
    <a:srgbClr val="C4F7CA"/>
    <a:srgbClr val="D8F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3" d="100"/>
          <a:sy n="113" d="100"/>
        </p:scale>
        <p:origin x="106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31B3F3-81DB-71DC-7667-CA99F7FCF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DAE9B91-55F2-A467-89C9-4FCA9B095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6A32F5-3CC9-603F-53CC-0E7672F4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0F0A1F-37B1-8FEC-9D24-F59079A7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46CA2C-91E7-5E17-A88B-2D8A6ADF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272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92D244-984B-CDBE-85E6-62722955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D5636F-3637-F352-90F3-7B9C08A4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1D541C-2622-807F-3FC5-7A626BE4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7674C2-5D71-96A1-2225-C0D3085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B6F0AD-F7DA-F7F6-4911-0BB51B9E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08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F5ED67-D427-FA8C-5B94-67047717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D78180C-6EEE-6E42-26CC-5B2F571DC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8B19C4-9753-1E43-F17D-C1A310C2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8C295C-DFAC-4642-CFDD-ADC32BC0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AAF2D7-A43E-BF7D-C1D5-1F3F1BE0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30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A3E242-6836-48ED-FBC4-B41F2E4F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A7132F-A8CC-2DCE-2002-703854D78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23CC199-E58F-CEF2-CF7C-FEA10D7F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262125-3A20-7855-94D7-78028842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A01CFF7-5B67-FD1D-0C96-8AF776B3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8BC042-F8A3-D6C7-0BDF-C93129C2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421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7D7237-4ED9-841F-D080-F6D8F853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CD5844-070C-6FC5-D82B-7829E38A7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546DBF8-E3BC-8E9E-3ACC-4D58F13B4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9494A0-67AA-A5B5-A29B-15B6BCF5C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5A974E4-9A95-7D2B-222F-E897FC2F0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D1BBA00-58FE-B4D2-FFC1-E504F6A3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1AACE0D-1406-D907-FAC8-432F02EB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9444FAE-703C-84ED-157A-35801565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034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50C82F-8F39-9B61-53A9-37827D4D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0086C7-1DB3-18E7-A3C5-71767219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E278DF-9F13-F3F8-044B-DE5C783C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789A6D-EFC5-E0F0-2C1E-C1FBBB94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74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A09A6B2-D6EC-112B-6C76-94DC3FCA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E8E9AF1-B5D1-3D98-9345-6CD5E1CD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34BDB3-1776-8A6D-031A-A1756D1C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964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EC3C8B-8016-65ED-6902-6858B35FC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DD4501-9C3A-B221-5992-54DF504D9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5D64AE-559B-654A-1447-406D916A6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05BAE5B-2847-5553-7E05-8BC7537C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E32264-54E1-8BCB-AA57-42D3BB92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5358B7-674A-7A88-B826-5EE49C87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1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FCF466-668E-BD6E-F10E-C26D96D8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5406875-DA4F-F6EE-6654-FFEB8E932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488526-2FDB-9D05-2179-D03133E73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74229EB-0D5F-87F5-1C97-BF9F8D95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6B59AE5-9876-EBCC-0D20-C959FC25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7258AF-D5E4-37BE-BA20-2E5E50DE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435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84CCA2-B1AF-2066-A5B7-5B11CC70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81FFD8-29EC-D3E0-7F34-7721109E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5D1617-6408-E76F-8B33-A567E697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F891BD-55EA-1865-044E-BD83A6DE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4E97DB-8F16-E0AF-E2B9-D4FBF2A3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296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8D4EEE2-7F91-9DC6-DD37-F5662C2FC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484EDB-873E-99F3-644F-483581E2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7EC725-77B2-0FBD-6240-10996012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A47FAE-A0FC-A609-AEEF-232275A5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14BB75-5FEC-83A5-8DB0-5CBD23A2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78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B216D3-C403-B028-0AA0-BE66E6CB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E5E95D-E911-7D7E-6173-FFFD31D09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5FD4CD-F8FB-2E82-8E53-0E822A159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C1A93-36F9-FD41-A5B4-BD65DF14215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49B037-3956-8918-B515-15E6DB0E9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8C8090-C28D-A7A0-EB99-685393559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586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2E0D14-9BC3-46CB-AEDA-1E9C8FB36AD7}"/>
              </a:ext>
            </a:extLst>
          </p:cNvPr>
          <p:cNvSpPr txBox="1"/>
          <p:nvPr/>
        </p:nvSpPr>
        <p:spPr>
          <a:xfrm>
            <a:off x="2254273" y="1381466"/>
            <a:ext cx="1278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latin typeface=""/>
              </a:rPr>
              <a:t>LUNG CT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91CBFEF-07D2-6ED7-98D7-D32EBE0B582C}"/>
              </a:ext>
            </a:extLst>
          </p:cNvPr>
          <p:cNvSpPr/>
          <p:nvPr/>
        </p:nvSpPr>
        <p:spPr>
          <a:xfrm>
            <a:off x="1880332" y="2246245"/>
            <a:ext cx="2315288" cy="2770112"/>
          </a:xfrm>
          <a:prstGeom prst="roundRect">
            <a:avLst/>
          </a:prstGeom>
          <a:noFill/>
          <a:ln>
            <a:solidFill>
              <a:srgbClr val="FFC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0098AFC-C7E4-9F73-C7B6-87ECED308FE2}"/>
              </a:ext>
            </a:extLst>
          </p:cNvPr>
          <p:cNvSpPr/>
          <p:nvPr/>
        </p:nvSpPr>
        <p:spPr>
          <a:xfrm>
            <a:off x="4477855" y="2246246"/>
            <a:ext cx="2315288" cy="2770112"/>
          </a:xfrm>
          <a:prstGeom prst="roundRect">
            <a:avLst/>
          </a:prstGeom>
          <a:noFill/>
          <a:ln>
            <a:solidFill>
              <a:srgbClr val="525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7BFF4F3-C582-9134-A85B-94FCE0A63444}"/>
              </a:ext>
            </a:extLst>
          </p:cNvPr>
          <p:cNvSpPr/>
          <p:nvPr/>
        </p:nvSpPr>
        <p:spPr>
          <a:xfrm>
            <a:off x="7090893" y="2241495"/>
            <a:ext cx="2315288" cy="2770112"/>
          </a:xfrm>
          <a:prstGeom prst="roundRect">
            <a:avLst/>
          </a:prstGeom>
          <a:noFill/>
          <a:ln>
            <a:solidFill>
              <a:srgbClr val="5FAC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15AC3CA-6CF0-BED8-D5E1-B585E6619B68}"/>
              </a:ext>
            </a:extLst>
          </p:cNvPr>
          <p:cNvSpPr/>
          <p:nvPr/>
        </p:nvSpPr>
        <p:spPr>
          <a:xfrm>
            <a:off x="9681903" y="2241494"/>
            <a:ext cx="2315288" cy="2770108"/>
          </a:xfrm>
          <a:prstGeom prst="roundRect">
            <a:avLst/>
          </a:prstGeom>
          <a:solidFill>
            <a:srgbClr val="97DDE9"/>
          </a:solidFill>
          <a:ln>
            <a:solidFill>
              <a:srgbClr val="97DD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C1BC0EC-3DAB-DD5D-A4D0-21DD2B9354CC}"/>
              </a:ext>
            </a:extLst>
          </p:cNvPr>
          <p:cNvSpPr txBox="1"/>
          <p:nvPr/>
        </p:nvSpPr>
        <p:spPr>
          <a:xfrm>
            <a:off x="2363177" y="2333363"/>
            <a:ext cx="15469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solidFill>
                  <a:srgbClr val="FFC349"/>
                </a:solidFill>
                <a:latin typeface=""/>
              </a:rPr>
              <a:t>DETECTOR</a:t>
            </a:r>
          </a:p>
        </p:txBody>
      </p:sp>
      <p:cxnSp>
        <p:nvCxnSpPr>
          <p:cNvPr id="23" name="Connettore diritto a freccia 22">
            <a:extLst>
              <a:ext uri="{FF2B5EF4-FFF2-40B4-BE49-F238E27FC236}">
                <a16:creationId xmlns:a16="http://schemas.microsoft.com/office/drawing/2014/main" id="{9F73E8F3-CD23-C14B-C2E7-B9EBBFDFC65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95620" y="3631301"/>
            <a:ext cx="2822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55489A3-A2D0-006C-F602-17BCDED9DB1D}"/>
              </a:ext>
            </a:extLst>
          </p:cNvPr>
          <p:cNvSpPr txBox="1"/>
          <p:nvPr/>
        </p:nvSpPr>
        <p:spPr>
          <a:xfrm>
            <a:off x="4669941" y="2335822"/>
            <a:ext cx="1931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500" dirty="0">
                <a:solidFill>
                  <a:srgbClr val="525EA7"/>
                </a:solidFill>
                <a:latin typeface=""/>
              </a:rPr>
              <a:t>RBF SURFACE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0B494A3-DD40-F5E2-2DD4-FF8EA8EC7870}"/>
              </a:ext>
            </a:extLst>
          </p:cNvPr>
          <p:cNvSpPr txBox="1"/>
          <p:nvPr/>
        </p:nvSpPr>
        <p:spPr>
          <a:xfrm>
            <a:off x="7246259" y="2333363"/>
            <a:ext cx="1931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500" dirty="0">
                <a:solidFill>
                  <a:srgbClr val="5FACD3"/>
                </a:solidFill>
                <a:latin typeface=""/>
              </a:rPr>
              <a:t>SYNTHETIC 2D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719B654-2AA8-F7EF-5249-70E1A6EA7577}"/>
              </a:ext>
            </a:extLst>
          </p:cNvPr>
          <p:cNvSpPr txBox="1"/>
          <p:nvPr/>
        </p:nvSpPr>
        <p:spPr>
          <a:xfrm>
            <a:off x="9774383" y="3551420"/>
            <a:ext cx="21232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500" dirty="0">
                <a:latin typeface=""/>
              </a:rPr>
              <a:t>EFFICIENTNETV2-S</a:t>
            </a:r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C26B4AD2-C953-1369-4E8D-770D2450B91E}"/>
              </a:ext>
            </a:extLst>
          </p:cNvPr>
          <p:cNvSpPr>
            <a:spLocks noGrp="1"/>
          </p:cNvSpPr>
          <p:nvPr/>
        </p:nvSpPr>
        <p:spPr>
          <a:xfrm>
            <a:off x="8711753" y="1476374"/>
            <a:ext cx="133350" cy="1333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it-IT" dirty="0">
              <a:latin typeface=""/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19063549-CB5D-F31D-F868-B5E4CFA9AF0E}"/>
              </a:ext>
            </a:extLst>
          </p:cNvPr>
          <p:cNvSpPr/>
          <p:nvPr/>
        </p:nvSpPr>
        <p:spPr>
          <a:xfrm>
            <a:off x="8570990" y="996124"/>
            <a:ext cx="3326595" cy="7571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A2424F18-D858-DF72-6FEE-D3F6B8A74039}"/>
              </a:ext>
            </a:extLst>
          </p:cNvPr>
          <p:cNvSpPr txBox="1"/>
          <p:nvPr/>
        </p:nvSpPr>
        <p:spPr>
          <a:xfrm>
            <a:off x="8570991" y="1016797"/>
            <a:ext cx="21113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b="1" dirty="0">
                <a:latin typeface=""/>
              </a:rPr>
              <a:t>VISUAL KEY</a:t>
            </a:r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0F41ADAC-AA9E-5BF8-A0D8-2C0196D638CE}"/>
              </a:ext>
            </a:extLst>
          </p:cNvPr>
          <p:cNvSpPr>
            <a:spLocks noGrp="1"/>
          </p:cNvSpPr>
          <p:nvPr/>
        </p:nvSpPr>
        <p:spPr>
          <a:xfrm>
            <a:off x="10465389" y="1457234"/>
            <a:ext cx="133350" cy="133350"/>
          </a:xfrm>
          <a:prstGeom prst="ellipse">
            <a:avLst/>
          </a:prstGeom>
          <a:solidFill>
            <a:srgbClr val="FFC349"/>
          </a:solidFill>
          <a:ln w="9525">
            <a:solidFill>
              <a:srgbClr val="FFC349"/>
            </a:solidFill>
            <a:prstDash val="solid"/>
          </a:ln>
        </p:spPr>
        <p:txBody>
          <a:bodyPr/>
          <a:lstStyle/>
          <a:p>
            <a:endParaRPr lang="it-IT">
              <a:latin typeface=""/>
            </a:endParaRPr>
          </a:p>
        </p:txBody>
      </p:sp>
      <p:sp>
        <p:nvSpPr>
          <p:cNvPr id="62" name="Rettangolo con angoli arrotondati 61">
            <a:extLst>
              <a:ext uri="{FF2B5EF4-FFF2-40B4-BE49-F238E27FC236}">
                <a16:creationId xmlns:a16="http://schemas.microsoft.com/office/drawing/2014/main" id="{3EA77A94-F970-28FA-5FFC-7CD79A23FEC3}"/>
              </a:ext>
            </a:extLst>
          </p:cNvPr>
          <p:cNvSpPr/>
          <p:nvPr/>
        </p:nvSpPr>
        <p:spPr>
          <a:xfrm>
            <a:off x="2820592" y="4612096"/>
            <a:ext cx="530050" cy="208451"/>
          </a:xfrm>
          <a:prstGeom prst="roundRect">
            <a:avLst/>
          </a:prstGeom>
          <a:noFill/>
          <a:ln>
            <a:solidFill>
              <a:srgbClr val="FFC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93254432-61AD-2CAC-B76B-3DD367BE2439}"/>
              </a:ext>
            </a:extLst>
          </p:cNvPr>
          <p:cNvSpPr txBox="1"/>
          <p:nvPr/>
        </p:nvSpPr>
        <p:spPr>
          <a:xfrm>
            <a:off x="10597334" y="1362326"/>
            <a:ext cx="1278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 err="1">
                <a:latin typeface=""/>
              </a:rPr>
              <a:t>detections</a:t>
            </a:r>
            <a:endParaRPr lang="it-IT" sz="1500" dirty="0">
              <a:latin typeface=""/>
            </a:endParaRP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1FFFF9D4-62FF-EACA-4A75-83A2F586C8A6}"/>
              </a:ext>
            </a:extLst>
          </p:cNvPr>
          <p:cNvSpPr txBox="1"/>
          <p:nvPr/>
        </p:nvSpPr>
        <p:spPr>
          <a:xfrm>
            <a:off x="8845104" y="1372979"/>
            <a:ext cx="14375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latin typeface=""/>
              </a:rPr>
              <a:t>ground truths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159192E0-9A2E-FFDA-2239-201B9C57EFEC}"/>
              </a:ext>
            </a:extLst>
          </p:cNvPr>
          <p:cNvSpPr txBox="1"/>
          <p:nvPr/>
        </p:nvSpPr>
        <p:spPr>
          <a:xfrm>
            <a:off x="9598949" y="5703378"/>
            <a:ext cx="9245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 err="1">
                <a:latin typeface=""/>
              </a:rPr>
              <a:t>benign</a:t>
            </a:r>
            <a:endParaRPr lang="it-IT" sz="1500" dirty="0">
              <a:latin typeface=""/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2D4CD2B5-5BD7-E6D9-4D6C-B3D4F2FED235}"/>
              </a:ext>
            </a:extLst>
          </p:cNvPr>
          <p:cNvSpPr txBox="1"/>
          <p:nvPr/>
        </p:nvSpPr>
        <p:spPr>
          <a:xfrm>
            <a:off x="11066604" y="5703377"/>
            <a:ext cx="12996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 err="1">
                <a:latin typeface=""/>
              </a:rPr>
              <a:t>malignant</a:t>
            </a:r>
            <a:endParaRPr lang="it-IT" sz="1500" dirty="0">
              <a:latin typeface=""/>
            </a:endParaRPr>
          </a:p>
        </p:txBody>
      </p:sp>
      <p:pic>
        <p:nvPicPr>
          <p:cNvPr id="75" name="Immagine 74">
            <a:extLst>
              <a:ext uri="{FF2B5EF4-FFF2-40B4-BE49-F238E27FC236}">
                <a16:creationId xmlns:a16="http://schemas.microsoft.com/office/drawing/2014/main" id="{76F7FEAC-2AC0-0E0C-5473-5D850D17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" y="796541"/>
            <a:ext cx="2150339" cy="1692903"/>
          </a:xfrm>
          <a:prstGeom prst="rect">
            <a:avLst/>
          </a:prstGeom>
        </p:spPr>
      </p:pic>
      <p:pic>
        <p:nvPicPr>
          <p:cNvPr id="81" name="Immagine 80">
            <a:extLst>
              <a:ext uri="{FF2B5EF4-FFF2-40B4-BE49-F238E27FC236}">
                <a16:creationId xmlns:a16="http://schemas.microsoft.com/office/drawing/2014/main" id="{7DF2223E-71AA-E0E1-090E-B22A58EB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754" y="2695946"/>
            <a:ext cx="2241590" cy="1758110"/>
          </a:xfrm>
          <a:prstGeom prst="rect">
            <a:avLst/>
          </a:prstGeom>
        </p:spPr>
      </p:pic>
      <p:cxnSp>
        <p:nvCxnSpPr>
          <p:cNvPr id="84" name="Connettore diritto a freccia 83">
            <a:extLst>
              <a:ext uri="{FF2B5EF4-FFF2-40B4-BE49-F238E27FC236}">
                <a16:creationId xmlns:a16="http://schemas.microsoft.com/office/drawing/2014/main" id="{3DBD690D-D5CD-A324-121F-001EF54349EF}"/>
              </a:ext>
            </a:extLst>
          </p:cNvPr>
          <p:cNvCxnSpPr>
            <a:cxnSpLocks/>
            <a:stCxn id="75" idx="2"/>
            <a:endCxn id="81" idx="1"/>
          </p:cNvCxnSpPr>
          <p:nvPr/>
        </p:nvCxnSpPr>
        <p:spPr>
          <a:xfrm rot="16200000" flipH="1">
            <a:off x="1001925" y="2677171"/>
            <a:ext cx="1085557" cy="710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6" name="Immagine 85">
            <a:extLst>
              <a:ext uri="{FF2B5EF4-FFF2-40B4-BE49-F238E27FC236}">
                <a16:creationId xmlns:a16="http://schemas.microsoft.com/office/drawing/2014/main" id="{1C4CDADC-AB15-C0A4-E3B3-A2219C336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253" y="2563410"/>
            <a:ext cx="2204492" cy="2204492"/>
          </a:xfrm>
          <a:prstGeom prst="rect">
            <a:avLst/>
          </a:prstGeom>
        </p:spPr>
      </p:pic>
      <p:pic>
        <p:nvPicPr>
          <p:cNvPr id="88" name="Immagine 87">
            <a:extLst>
              <a:ext uri="{FF2B5EF4-FFF2-40B4-BE49-F238E27FC236}">
                <a16:creationId xmlns:a16="http://schemas.microsoft.com/office/drawing/2014/main" id="{F709198F-A624-4E8A-9816-0E9434130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278" y="2811903"/>
            <a:ext cx="2090518" cy="1756035"/>
          </a:xfrm>
          <a:prstGeom prst="rect">
            <a:avLst/>
          </a:prstGeom>
        </p:spPr>
      </p:pic>
      <p:cxnSp>
        <p:nvCxnSpPr>
          <p:cNvPr id="22" name="Connettore diritto a freccia 21">
            <a:extLst>
              <a:ext uri="{FF2B5EF4-FFF2-40B4-BE49-F238E27FC236}">
                <a16:creationId xmlns:a16="http://schemas.microsoft.com/office/drawing/2014/main" id="{C567DEEE-FDEE-8112-E6D3-006890671FDB}"/>
              </a:ext>
            </a:extLst>
          </p:cNvPr>
          <p:cNvCxnSpPr>
            <a:cxnSpLocks/>
          </p:cNvCxnSpPr>
          <p:nvPr/>
        </p:nvCxnSpPr>
        <p:spPr>
          <a:xfrm>
            <a:off x="6793143" y="3626551"/>
            <a:ext cx="2822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ttore diritto a freccia 29">
            <a:extLst>
              <a:ext uri="{FF2B5EF4-FFF2-40B4-BE49-F238E27FC236}">
                <a16:creationId xmlns:a16="http://schemas.microsoft.com/office/drawing/2014/main" id="{75BFEBFC-4A25-D3EC-59E0-EAE10151C573}"/>
              </a:ext>
            </a:extLst>
          </p:cNvPr>
          <p:cNvCxnSpPr>
            <a:cxnSpLocks/>
          </p:cNvCxnSpPr>
          <p:nvPr/>
        </p:nvCxnSpPr>
        <p:spPr>
          <a:xfrm>
            <a:off x="9382692" y="3626552"/>
            <a:ext cx="2822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a freccia 37">
            <a:extLst>
              <a:ext uri="{FF2B5EF4-FFF2-40B4-BE49-F238E27FC236}">
                <a16:creationId xmlns:a16="http://schemas.microsoft.com/office/drawing/2014/main" id="{8C46F2C6-2403-DAA2-A183-D487FE671E4E}"/>
              </a:ext>
            </a:extLst>
          </p:cNvPr>
          <p:cNvCxnSpPr>
            <a:cxnSpLocks/>
            <a:stCxn id="9" idx="2"/>
            <a:endCxn id="72" idx="0"/>
          </p:cNvCxnSpPr>
          <p:nvPr/>
        </p:nvCxnSpPr>
        <p:spPr>
          <a:xfrm rot="5400000">
            <a:off x="10104495" y="4968326"/>
            <a:ext cx="691776" cy="778329"/>
          </a:xfrm>
          <a:prstGeom prst="bentConnector3">
            <a:avLst>
              <a:gd name="adj1" fmla="val 4150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ttore diritto a freccia 40">
            <a:extLst>
              <a:ext uri="{FF2B5EF4-FFF2-40B4-BE49-F238E27FC236}">
                <a16:creationId xmlns:a16="http://schemas.microsoft.com/office/drawing/2014/main" id="{897639A1-D6E5-6785-E56D-47BBC4CC7C52}"/>
              </a:ext>
            </a:extLst>
          </p:cNvPr>
          <p:cNvCxnSpPr>
            <a:cxnSpLocks/>
            <a:stCxn id="9" idx="2"/>
            <a:endCxn id="73" idx="0"/>
          </p:cNvCxnSpPr>
          <p:nvPr/>
        </p:nvCxnSpPr>
        <p:spPr>
          <a:xfrm rot="16200000" flipH="1">
            <a:off x="10932094" y="4919054"/>
            <a:ext cx="691775" cy="876869"/>
          </a:xfrm>
          <a:prstGeom prst="bentConnector3">
            <a:avLst>
              <a:gd name="adj1" fmla="val 413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6DA138A-5FFD-3258-9FE6-334920C508E9}"/>
              </a:ext>
            </a:extLst>
          </p:cNvPr>
          <p:cNvSpPr txBox="1"/>
          <p:nvPr/>
        </p:nvSpPr>
        <p:spPr>
          <a:xfrm>
            <a:off x="2882326" y="4593210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b="1" dirty="0"/>
              <a:t>k=4</a:t>
            </a:r>
          </a:p>
        </p:txBody>
      </p:sp>
    </p:spTree>
    <p:extLst>
      <p:ext uri="{BB962C8B-B14F-4D97-AF65-F5344CB8AC3E}">
        <p14:creationId xmlns:p14="http://schemas.microsoft.com/office/powerpoint/2010/main" val="72827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18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Paolo Domenico</dc:creator>
  <cp:lastModifiedBy>Paolo Domenico</cp:lastModifiedBy>
  <cp:revision>35</cp:revision>
  <dcterms:created xsi:type="dcterms:W3CDTF">2026-08-20T14:14:11Z</dcterms:created>
  <dcterms:modified xsi:type="dcterms:W3CDTF">2026-09-08T13:38:55Z</dcterms:modified>
</cp:coreProperties>
</file>